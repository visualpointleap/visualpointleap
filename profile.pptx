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72" r:id="rId3"/>
    <p:sldId id="273" r:id="rId4"/>
    <p:sldId id="277" r:id="rId5"/>
    <p:sldId id="274" r:id="rId6"/>
    <p:sldId id="27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60"/>
  </p:normalViewPr>
  <p:slideViewPr>
    <p:cSldViewPr snapToGrid="0">
      <p:cViewPr varScale="1">
        <p:scale>
          <a:sx n="65" d="100"/>
          <a:sy n="65" d="100"/>
        </p:scale>
        <p:origin x="8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heme" Target="theme/theme1.xml" /><Relationship Id="rId5" Type="http://schemas.openxmlformats.org/officeDocument/2006/relationships/slide" Target="slides/slide4.xml" /><Relationship Id="rId10"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3F0D4E-BE54-4508-963D-BE8CD2B6D52F}" type="datetimeFigureOut">
              <a:rPr lang="en-LS" smtClean="0"/>
              <a:t>04/03/2025</a:t>
            </a:fld>
            <a:endParaRPr lang="en-L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L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L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AF3A29-4319-4C62-930C-C932310D1DD8}" type="slidenum">
              <a:rPr lang="en-LS" smtClean="0"/>
              <a:t>‹#›</a:t>
            </a:fld>
            <a:endParaRPr lang="en-LS"/>
          </a:p>
        </p:txBody>
      </p:sp>
    </p:spTree>
    <p:extLst>
      <p:ext uri="{BB962C8B-B14F-4D97-AF65-F5344CB8AC3E}">
        <p14:creationId xmlns:p14="http://schemas.microsoft.com/office/powerpoint/2010/main" val="1137524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S" dirty="0"/>
          </a:p>
        </p:txBody>
      </p:sp>
      <p:sp>
        <p:nvSpPr>
          <p:cNvPr id="4" name="Slide Number Placeholder 3"/>
          <p:cNvSpPr>
            <a:spLocks noGrp="1"/>
          </p:cNvSpPr>
          <p:nvPr>
            <p:ph type="sldNum" sz="quarter" idx="5"/>
          </p:nvPr>
        </p:nvSpPr>
        <p:spPr/>
        <p:txBody>
          <a:bodyPr/>
          <a:lstStyle/>
          <a:p>
            <a:fld id="{5BAF3A29-4319-4C62-930C-C932310D1DD8}" type="slidenum">
              <a:rPr lang="en-LS" smtClean="0"/>
              <a:t>1</a:t>
            </a:fld>
            <a:endParaRPr lang="en-LS"/>
          </a:p>
        </p:txBody>
      </p:sp>
    </p:spTree>
    <p:extLst>
      <p:ext uri="{BB962C8B-B14F-4D97-AF65-F5344CB8AC3E}">
        <p14:creationId xmlns:p14="http://schemas.microsoft.com/office/powerpoint/2010/main" val="2298593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52CFF-C770-00DD-A08D-B38EEF8D3F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0ED99A-13EF-F584-25D1-6E38339BB4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139D9B-DECA-937E-5F5E-589283C39728}"/>
              </a:ext>
            </a:extLst>
          </p:cNvPr>
          <p:cNvSpPr>
            <a:spLocks noGrp="1"/>
          </p:cNvSpPr>
          <p:nvPr>
            <p:ph type="dt" sz="half" idx="10"/>
          </p:nvPr>
        </p:nvSpPr>
        <p:spPr/>
        <p:txBody>
          <a:bodyPr/>
          <a:lstStyle/>
          <a:p>
            <a:fld id="{A93AFDE9-E943-4685-9521-60464D41F671}" type="datetimeFigureOut">
              <a:rPr lang="en-US" smtClean="0"/>
              <a:t>4/3/2025</a:t>
            </a:fld>
            <a:endParaRPr lang="en-US"/>
          </a:p>
        </p:txBody>
      </p:sp>
      <p:sp>
        <p:nvSpPr>
          <p:cNvPr id="5" name="Footer Placeholder 4">
            <a:extLst>
              <a:ext uri="{FF2B5EF4-FFF2-40B4-BE49-F238E27FC236}">
                <a16:creationId xmlns:a16="http://schemas.microsoft.com/office/drawing/2014/main" id="{DAEBE31A-C8D6-A132-087D-76E286781F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92844-4C5B-6C5F-62E1-8BA09E50AEB3}"/>
              </a:ext>
            </a:extLst>
          </p:cNvPr>
          <p:cNvSpPr>
            <a:spLocks noGrp="1"/>
          </p:cNvSpPr>
          <p:nvPr>
            <p:ph type="sldNum" sz="quarter" idx="12"/>
          </p:nvPr>
        </p:nvSpPr>
        <p:spPr/>
        <p:txBody>
          <a:bodyPr/>
          <a:lstStyle/>
          <a:p>
            <a:fld id="{8CD79121-0DD0-4B93-A6F5-7E2407A66903}" type="slidenum">
              <a:rPr lang="en-US" smtClean="0"/>
              <a:t>‹#›</a:t>
            </a:fld>
            <a:endParaRPr lang="en-US"/>
          </a:p>
        </p:txBody>
      </p:sp>
    </p:spTree>
    <p:extLst>
      <p:ext uri="{BB962C8B-B14F-4D97-AF65-F5344CB8AC3E}">
        <p14:creationId xmlns:p14="http://schemas.microsoft.com/office/powerpoint/2010/main" val="1384130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167C7-5CBC-A4F8-D2E6-B94E10E8BE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4E6BEC-EEFC-6C60-3962-B0C9408A1A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133966-BF84-2425-DD89-7CC88E5E9446}"/>
              </a:ext>
            </a:extLst>
          </p:cNvPr>
          <p:cNvSpPr>
            <a:spLocks noGrp="1"/>
          </p:cNvSpPr>
          <p:nvPr>
            <p:ph type="dt" sz="half" idx="10"/>
          </p:nvPr>
        </p:nvSpPr>
        <p:spPr/>
        <p:txBody>
          <a:bodyPr/>
          <a:lstStyle/>
          <a:p>
            <a:fld id="{A93AFDE9-E943-4685-9521-60464D41F671}" type="datetimeFigureOut">
              <a:rPr lang="en-US" smtClean="0"/>
              <a:t>4/3/2025</a:t>
            </a:fld>
            <a:endParaRPr lang="en-US"/>
          </a:p>
        </p:txBody>
      </p:sp>
      <p:sp>
        <p:nvSpPr>
          <p:cNvPr id="5" name="Footer Placeholder 4">
            <a:extLst>
              <a:ext uri="{FF2B5EF4-FFF2-40B4-BE49-F238E27FC236}">
                <a16:creationId xmlns:a16="http://schemas.microsoft.com/office/drawing/2014/main" id="{2876F675-2479-F1C9-CDAC-EAF039E0C2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7E8B6B-AB9E-5CFA-E5B2-5ABB820693C1}"/>
              </a:ext>
            </a:extLst>
          </p:cNvPr>
          <p:cNvSpPr>
            <a:spLocks noGrp="1"/>
          </p:cNvSpPr>
          <p:nvPr>
            <p:ph type="sldNum" sz="quarter" idx="12"/>
          </p:nvPr>
        </p:nvSpPr>
        <p:spPr/>
        <p:txBody>
          <a:bodyPr/>
          <a:lstStyle/>
          <a:p>
            <a:fld id="{8CD79121-0DD0-4B93-A6F5-7E2407A66903}" type="slidenum">
              <a:rPr lang="en-US" smtClean="0"/>
              <a:t>‹#›</a:t>
            </a:fld>
            <a:endParaRPr lang="en-US"/>
          </a:p>
        </p:txBody>
      </p:sp>
    </p:spTree>
    <p:extLst>
      <p:ext uri="{BB962C8B-B14F-4D97-AF65-F5344CB8AC3E}">
        <p14:creationId xmlns:p14="http://schemas.microsoft.com/office/powerpoint/2010/main" val="436591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6336E-1971-5321-F2C1-B0F810B7C7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36F3847-A497-A711-3D34-8AB8864CEE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A2F72E-ADBC-DDB9-F6D1-F32E5048BEB0}"/>
              </a:ext>
            </a:extLst>
          </p:cNvPr>
          <p:cNvSpPr>
            <a:spLocks noGrp="1"/>
          </p:cNvSpPr>
          <p:nvPr>
            <p:ph type="dt" sz="half" idx="10"/>
          </p:nvPr>
        </p:nvSpPr>
        <p:spPr/>
        <p:txBody>
          <a:bodyPr/>
          <a:lstStyle/>
          <a:p>
            <a:fld id="{A93AFDE9-E943-4685-9521-60464D41F671}" type="datetimeFigureOut">
              <a:rPr lang="en-US" smtClean="0"/>
              <a:t>4/3/2025</a:t>
            </a:fld>
            <a:endParaRPr lang="en-US"/>
          </a:p>
        </p:txBody>
      </p:sp>
      <p:sp>
        <p:nvSpPr>
          <p:cNvPr id="5" name="Footer Placeholder 4">
            <a:extLst>
              <a:ext uri="{FF2B5EF4-FFF2-40B4-BE49-F238E27FC236}">
                <a16:creationId xmlns:a16="http://schemas.microsoft.com/office/drawing/2014/main" id="{1BC5CE7D-724E-57EE-388F-58FBFA52EB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FD70AA-1963-5510-5ECC-11398B7A2E1E}"/>
              </a:ext>
            </a:extLst>
          </p:cNvPr>
          <p:cNvSpPr>
            <a:spLocks noGrp="1"/>
          </p:cNvSpPr>
          <p:nvPr>
            <p:ph type="sldNum" sz="quarter" idx="12"/>
          </p:nvPr>
        </p:nvSpPr>
        <p:spPr/>
        <p:txBody>
          <a:bodyPr/>
          <a:lstStyle/>
          <a:p>
            <a:fld id="{8CD79121-0DD0-4B93-A6F5-7E2407A66903}" type="slidenum">
              <a:rPr lang="en-US" smtClean="0"/>
              <a:t>‹#›</a:t>
            </a:fld>
            <a:endParaRPr lang="en-US"/>
          </a:p>
        </p:txBody>
      </p:sp>
    </p:spTree>
    <p:extLst>
      <p:ext uri="{BB962C8B-B14F-4D97-AF65-F5344CB8AC3E}">
        <p14:creationId xmlns:p14="http://schemas.microsoft.com/office/powerpoint/2010/main" val="3517849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2532C-764A-2D97-4F67-6149617FE4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9E8137-A13C-0BC9-5A1D-8C032F7EC0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30587E-58ED-66F1-E9A2-6B6C1AA2F3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8DBEB7-5B1E-C20F-3CE4-877697762A31}"/>
              </a:ext>
            </a:extLst>
          </p:cNvPr>
          <p:cNvSpPr>
            <a:spLocks noGrp="1"/>
          </p:cNvSpPr>
          <p:nvPr>
            <p:ph type="dt" sz="half" idx="10"/>
          </p:nvPr>
        </p:nvSpPr>
        <p:spPr/>
        <p:txBody>
          <a:bodyPr/>
          <a:lstStyle/>
          <a:p>
            <a:fld id="{A93AFDE9-E943-4685-9521-60464D41F671}" type="datetimeFigureOut">
              <a:rPr lang="en-US" smtClean="0"/>
              <a:t>4/3/2025</a:t>
            </a:fld>
            <a:endParaRPr lang="en-US"/>
          </a:p>
        </p:txBody>
      </p:sp>
      <p:sp>
        <p:nvSpPr>
          <p:cNvPr id="6" name="Footer Placeholder 5">
            <a:extLst>
              <a:ext uri="{FF2B5EF4-FFF2-40B4-BE49-F238E27FC236}">
                <a16:creationId xmlns:a16="http://schemas.microsoft.com/office/drawing/2014/main" id="{C15CBACF-F7DC-5223-2727-654299D023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01E3F2-55C3-EC95-6AED-9B67B8FB8195}"/>
              </a:ext>
            </a:extLst>
          </p:cNvPr>
          <p:cNvSpPr>
            <a:spLocks noGrp="1"/>
          </p:cNvSpPr>
          <p:nvPr>
            <p:ph type="sldNum" sz="quarter" idx="12"/>
          </p:nvPr>
        </p:nvSpPr>
        <p:spPr/>
        <p:txBody>
          <a:bodyPr/>
          <a:lstStyle/>
          <a:p>
            <a:fld id="{8CD79121-0DD0-4B93-A6F5-7E2407A66903}" type="slidenum">
              <a:rPr lang="en-US" smtClean="0"/>
              <a:t>‹#›</a:t>
            </a:fld>
            <a:endParaRPr lang="en-US"/>
          </a:p>
        </p:txBody>
      </p:sp>
    </p:spTree>
    <p:extLst>
      <p:ext uri="{BB962C8B-B14F-4D97-AF65-F5344CB8AC3E}">
        <p14:creationId xmlns:p14="http://schemas.microsoft.com/office/powerpoint/2010/main" val="1429898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6EC4-7CCA-D06A-9F5E-57A52729C8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0DDA99-FD70-8871-6524-491004E28B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C8E3A8-A178-F628-B89F-D1EBCE7973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68713-E139-5239-838D-5CF97DBA69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11F32A-DF32-E5B3-358F-096CC0F62A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0888C1-6C94-3FF0-DC98-0D5D2EF7C6B4}"/>
              </a:ext>
            </a:extLst>
          </p:cNvPr>
          <p:cNvSpPr>
            <a:spLocks noGrp="1"/>
          </p:cNvSpPr>
          <p:nvPr>
            <p:ph type="dt" sz="half" idx="10"/>
          </p:nvPr>
        </p:nvSpPr>
        <p:spPr/>
        <p:txBody>
          <a:bodyPr/>
          <a:lstStyle/>
          <a:p>
            <a:fld id="{A93AFDE9-E943-4685-9521-60464D41F671}" type="datetimeFigureOut">
              <a:rPr lang="en-US" smtClean="0"/>
              <a:t>4/3/2025</a:t>
            </a:fld>
            <a:endParaRPr lang="en-US"/>
          </a:p>
        </p:txBody>
      </p:sp>
      <p:sp>
        <p:nvSpPr>
          <p:cNvPr id="8" name="Footer Placeholder 7">
            <a:extLst>
              <a:ext uri="{FF2B5EF4-FFF2-40B4-BE49-F238E27FC236}">
                <a16:creationId xmlns:a16="http://schemas.microsoft.com/office/drawing/2014/main" id="{89A1821B-05D5-A919-3A33-938A7E2D25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645E5E0-F34D-E437-DA37-4050FCADE3E1}"/>
              </a:ext>
            </a:extLst>
          </p:cNvPr>
          <p:cNvSpPr>
            <a:spLocks noGrp="1"/>
          </p:cNvSpPr>
          <p:nvPr>
            <p:ph type="sldNum" sz="quarter" idx="12"/>
          </p:nvPr>
        </p:nvSpPr>
        <p:spPr/>
        <p:txBody>
          <a:bodyPr/>
          <a:lstStyle/>
          <a:p>
            <a:fld id="{8CD79121-0DD0-4B93-A6F5-7E2407A66903}" type="slidenum">
              <a:rPr lang="en-US" smtClean="0"/>
              <a:t>‹#›</a:t>
            </a:fld>
            <a:endParaRPr lang="en-US"/>
          </a:p>
        </p:txBody>
      </p:sp>
    </p:spTree>
    <p:extLst>
      <p:ext uri="{BB962C8B-B14F-4D97-AF65-F5344CB8AC3E}">
        <p14:creationId xmlns:p14="http://schemas.microsoft.com/office/powerpoint/2010/main" val="2974383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B4A93-EB27-931F-DBFD-A1F4B30AC5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A35C77-7BDD-52A2-E8CC-6009DC3D4389}"/>
              </a:ext>
            </a:extLst>
          </p:cNvPr>
          <p:cNvSpPr>
            <a:spLocks noGrp="1"/>
          </p:cNvSpPr>
          <p:nvPr>
            <p:ph type="dt" sz="half" idx="10"/>
          </p:nvPr>
        </p:nvSpPr>
        <p:spPr/>
        <p:txBody>
          <a:bodyPr/>
          <a:lstStyle/>
          <a:p>
            <a:fld id="{A93AFDE9-E943-4685-9521-60464D41F671}" type="datetimeFigureOut">
              <a:rPr lang="en-US" smtClean="0"/>
              <a:t>4/3/2025</a:t>
            </a:fld>
            <a:endParaRPr lang="en-US"/>
          </a:p>
        </p:txBody>
      </p:sp>
      <p:sp>
        <p:nvSpPr>
          <p:cNvPr id="4" name="Footer Placeholder 3">
            <a:extLst>
              <a:ext uri="{FF2B5EF4-FFF2-40B4-BE49-F238E27FC236}">
                <a16:creationId xmlns:a16="http://schemas.microsoft.com/office/drawing/2014/main" id="{396E7606-7BB1-0AE8-62B6-A7B88D942B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8CAAA0-01D7-39C9-0413-CF0753B62B4B}"/>
              </a:ext>
            </a:extLst>
          </p:cNvPr>
          <p:cNvSpPr>
            <a:spLocks noGrp="1"/>
          </p:cNvSpPr>
          <p:nvPr>
            <p:ph type="sldNum" sz="quarter" idx="12"/>
          </p:nvPr>
        </p:nvSpPr>
        <p:spPr/>
        <p:txBody>
          <a:bodyPr/>
          <a:lstStyle/>
          <a:p>
            <a:fld id="{8CD79121-0DD0-4B93-A6F5-7E2407A66903}" type="slidenum">
              <a:rPr lang="en-US" smtClean="0"/>
              <a:t>‹#›</a:t>
            </a:fld>
            <a:endParaRPr lang="en-US"/>
          </a:p>
        </p:txBody>
      </p:sp>
    </p:spTree>
    <p:extLst>
      <p:ext uri="{BB962C8B-B14F-4D97-AF65-F5344CB8AC3E}">
        <p14:creationId xmlns:p14="http://schemas.microsoft.com/office/powerpoint/2010/main" val="2908723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8E2AC5-F350-49C1-97CE-259C583FB599}"/>
              </a:ext>
            </a:extLst>
          </p:cNvPr>
          <p:cNvSpPr>
            <a:spLocks noGrp="1"/>
          </p:cNvSpPr>
          <p:nvPr>
            <p:ph type="dt" sz="half" idx="10"/>
          </p:nvPr>
        </p:nvSpPr>
        <p:spPr/>
        <p:txBody>
          <a:bodyPr/>
          <a:lstStyle/>
          <a:p>
            <a:fld id="{A93AFDE9-E943-4685-9521-60464D41F671}" type="datetimeFigureOut">
              <a:rPr lang="en-US" smtClean="0"/>
              <a:t>4/3/2025</a:t>
            </a:fld>
            <a:endParaRPr lang="en-US"/>
          </a:p>
        </p:txBody>
      </p:sp>
      <p:sp>
        <p:nvSpPr>
          <p:cNvPr id="3" name="Footer Placeholder 2">
            <a:extLst>
              <a:ext uri="{FF2B5EF4-FFF2-40B4-BE49-F238E27FC236}">
                <a16:creationId xmlns:a16="http://schemas.microsoft.com/office/drawing/2014/main" id="{9C75C0B5-5CE2-66F3-1C7E-9E102D4566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8CF5F8-EEA8-58F1-A878-C4F7DDC92046}"/>
              </a:ext>
            </a:extLst>
          </p:cNvPr>
          <p:cNvSpPr>
            <a:spLocks noGrp="1"/>
          </p:cNvSpPr>
          <p:nvPr>
            <p:ph type="sldNum" sz="quarter" idx="12"/>
          </p:nvPr>
        </p:nvSpPr>
        <p:spPr/>
        <p:txBody>
          <a:bodyPr/>
          <a:lstStyle/>
          <a:p>
            <a:fld id="{8CD79121-0DD0-4B93-A6F5-7E2407A66903}" type="slidenum">
              <a:rPr lang="en-US" smtClean="0"/>
              <a:t>‹#›</a:t>
            </a:fld>
            <a:endParaRPr lang="en-US"/>
          </a:p>
        </p:txBody>
      </p:sp>
    </p:spTree>
    <p:extLst>
      <p:ext uri="{BB962C8B-B14F-4D97-AF65-F5344CB8AC3E}">
        <p14:creationId xmlns:p14="http://schemas.microsoft.com/office/powerpoint/2010/main" val="3462585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97FFB-562D-74AD-0F3F-E15931DABD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82A308-54B4-A4B7-D16E-13C6463674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D9C355-C51C-22FF-197B-DDFBF95BBE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6073FF-FF63-35FD-2AEE-40FCC26F2817}"/>
              </a:ext>
            </a:extLst>
          </p:cNvPr>
          <p:cNvSpPr>
            <a:spLocks noGrp="1"/>
          </p:cNvSpPr>
          <p:nvPr>
            <p:ph type="dt" sz="half" idx="10"/>
          </p:nvPr>
        </p:nvSpPr>
        <p:spPr/>
        <p:txBody>
          <a:bodyPr/>
          <a:lstStyle/>
          <a:p>
            <a:fld id="{A93AFDE9-E943-4685-9521-60464D41F671}" type="datetimeFigureOut">
              <a:rPr lang="en-US" smtClean="0"/>
              <a:t>4/3/2025</a:t>
            </a:fld>
            <a:endParaRPr lang="en-US"/>
          </a:p>
        </p:txBody>
      </p:sp>
      <p:sp>
        <p:nvSpPr>
          <p:cNvPr id="6" name="Footer Placeholder 5">
            <a:extLst>
              <a:ext uri="{FF2B5EF4-FFF2-40B4-BE49-F238E27FC236}">
                <a16:creationId xmlns:a16="http://schemas.microsoft.com/office/drawing/2014/main" id="{E5F7BDF9-3EB7-2B09-9042-98FD31AA1D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232D4C-7FD1-6226-C6B9-0DB0B2564CED}"/>
              </a:ext>
            </a:extLst>
          </p:cNvPr>
          <p:cNvSpPr>
            <a:spLocks noGrp="1"/>
          </p:cNvSpPr>
          <p:nvPr>
            <p:ph type="sldNum" sz="quarter" idx="12"/>
          </p:nvPr>
        </p:nvSpPr>
        <p:spPr/>
        <p:txBody>
          <a:bodyPr/>
          <a:lstStyle/>
          <a:p>
            <a:fld id="{8CD79121-0DD0-4B93-A6F5-7E2407A66903}" type="slidenum">
              <a:rPr lang="en-US" smtClean="0"/>
              <a:t>‹#›</a:t>
            </a:fld>
            <a:endParaRPr lang="en-US"/>
          </a:p>
        </p:txBody>
      </p:sp>
    </p:spTree>
    <p:extLst>
      <p:ext uri="{BB962C8B-B14F-4D97-AF65-F5344CB8AC3E}">
        <p14:creationId xmlns:p14="http://schemas.microsoft.com/office/powerpoint/2010/main" val="792151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293B6-7A38-D296-7BE7-2C9356A1BC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3E71D5-A31A-429F-ECF9-FADA04D8D6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A04CA0-FC0F-6FD0-C074-90E41DB04B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B8DAE0-3946-6E38-B922-24DF21CE14D2}"/>
              </a:ext>
            </a:extLst>
          </p:cNvPr>
          <p:cNvSpPr>
            <a:spLocks noGrp="1"/>
          </p:cNvSpPr>
          <p:nvPr>
            <p:ph type="dt" sz="half" idx="10"/>
          </p:nvPr>
        </p:nvSpPr>
        <p:spPr/>
        <p:txBody>
          <a:bodyPr/>
          <a:lstStyle/>
          <a:p>
            <a:fld id="{A93AFDE9-E943-4685-9521-60464D41F671}" type="datetimeFigureOut">
              <a:rPr lang="en-US" smtClean="0"/>
              <a:t>4/3/2025</a:t>
            </a:fld>
            <a:endParaRPr lang="en-US"/>
          </a:p>
        </p:txBody>
      </p:sp>
      <p:sp>
        <p:nvSpPr>
          <p:cNvPr id="6" name="Footer Placeholder 5">
            <a:extLst>
              <a:ext uri="{FF2B5EF4-FFF2-40B4-BE49-F238E27FC236}">
                <a16:creationId xmlns:a16="http://schemas.microsoft.com/office/drawing/2014/main" id="{2E950745-B326-B515-C073-721EFC9503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1007D-BA1F-6CB8-C5F3-BA74DD10CDAB}"/>
              </a:ext>
            </a:extLst>
          </p:cNvPr>
          <p:cNvSpPr>
            <a:spLocks noGrp="1"/>
          </p:cNvSpPr>
          <p:nvPr>
            <p:ph type="sldNum" sz="quarter" idx="12"/>
          </p:nvPr>
        </p:nvSpPr>
        <p:spPr/>
        <p:txBody>
          <a:bodyPr/>
          <a:lstStyle/>
          <a:p>
            <a:fld id="{8CD79121-0DD0-4B93-A6F5-7E2407A66903}" type="slidenum">
              <a:rPr lang="en-US" smtClean="0"/>
              <a:t>‹#›</a:t>
            </a:fld>
            <a:endParaRPr lang="en-US"/>
          </a:p>
        </p:txBody>
      </p:sp>
    </p:spTree>
    <p:extLst>
      <p:ext uri="{BB962C8B-B14F-4D97-AF65-F5344CB8AC3E}">
        <p14:creationId xmlns:p14="http://schemas.microsoft.com/office/powerpoint/2010/main" val="1166070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2521C-AFBC-8721-DC47-DDE0AF74D6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D849A1-53E0-F1F6-1C1C-69D1F69331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83896A-2FE7-C896-1B51-D7D06C54118E}"/>
              </a:ext>
            </a:extLst>
          </p:cNvPr>
          <p:cNvSpPr>
            <a:spLocks noGrp="1"/>
          </p:cNvSpPr>
          <p:nvPr>
            <p:ph type="dt" sz="half" idx="10"/>
          </p:nvPr>
        </p:nvSpPr>
        <p:spPr/>
        <p:txBody>
          <a:bodyPr/>
          <a:lstStyle/>
          <a:p>
            <a:fld id="{A93AFDE9-E943-4685-9521-60464D41F671}" type="datetimeFigureOut">
              <a:rPr lang="en-US" smtClean="0"/>
              <a:t>4/3/2025</a:t>
            </a:fld>
            <a:endParaRPr lang="en-US"/>
          </a:p>
        </p:txBody>
      </p:sp>
      <p:sp>
        <p:nvSpPr>
          <p:cNvPr id="5" name="Footer Placeholder 4">
            <a:extLst>
              <a:ext uri="{FF2B5EF4-FFF2-40B4-BE49-F238E27FC236}">
                <a16:creationId xmlns:a16="http://schemas.microsoft.com/office/drawing/2014/main" id="{7BC76639-BA62-BA41-183C-DE1B98EEF8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C700DF-35B1-2CB4-D297-DD7C2CDFE508}"/>
              </a:ext>
            </a:extLst>
          </p:cNvPr>
          <p:cNvSpPr>
            <a:spLocks noGrp="1"/>
          </p:cNvSpPr>
          <p:nvPr>
            <p:ph type="sldNum" sz="quarter" idx="12"/>
          </p:nvPr>
        </p:nvSpPr>
        <p:spPr/>
        <p:txBody>
          <a:bodyPr/>
          <a:lstStyle/>
          <a:p>
            <a:fld id="{8CD79121-0DD0-4B93-A6F5-7E2407A66903}" type="slidenum">
              <a:rPr lang="en-US" smtClean="0"/>
              <a:t>‹#›</a:t>
            </a:fld>
            <a:endParaRPr lang="en-US"/>
          </a:p>
        </p:txBody>
      </p:sp>
    </p:spTree>
    <p:extLst>
      <p:ext uri="{BB962C8B-B14F-4D97-AF65-F5344CB8AC3E}">
        <p14:creationId xmlns:p14="http://schemas.microsoft.com/office/powerpoint/2010/main" val="771589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89E309-7893-FC38-AFC0-BAFC95A21C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935145-ABA0-12A6-B9BF-B35EA64C63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BF57EA-E3C9-9EC8-907F-E952171F2995}"/>
              </a:ext>
            </a:extLst>
          </p:cNvPr>
          <p:cNvSpPr>
            <a:spLocks noGrp="1"/>
          </p:cNvSpPr>
          <p:nvPr>
            <p:ph type="dt" sz="half" idx="10"/>
          </p:nvPr>
        </p:nvSpPr>
        <p:spPr/>
        <p:txBody>
          <a:bodyPr/>
          <a:lstStyle/>
          <a:p>
            <a:fld id="{A93AFDE9-E943-4685-9521-60464D41F671}" type="datetimeFigureOut">
              <a:rPr lang="en-US" smtClean="0"/>
              <a:t>4/3/2025</a:t>
            </a:fld>
            <a:endParaRPr lang="en-US"/>
          </a:p>
        </p:txBody>
      </p:sp>
      <p:sp>
        <p:nvSpPr>
          <p:cNvPr id="5" name="Footer Placeholder 4">
            <a:extLst>
              <a:ext uri="{FF2B5EF4-FFF2-40B4-BE49-F238E27FC236}">
                <a16:creationId xmlns:a16="http://schemas.microsoft.com/office/drawing/2014/main" id="{BE2C77AA-9D42-DC6C-AEF0-609BB78FD9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E18B33-AA10-068A-5085-4D8131475C08}"/>
              </a:ext>
            </a:extLst>
          </p:cNvPr>
          <p:cNvSpPr>
            <a:spLocks noGrp="1"/>
          </p:cNvSpPr>
          <p:nvPr>
            <p:ph type="sldNum" sz="quarter" idx="12"/>
          </p:nvPr>
        </p:nvSpPr>
        <p:spPr/>
        <p:txBody>
          <a:bodyPr/>
          <a:lstStyle/>
          <a:p>
            <a:fld id="{8CD79121-0DD0-4B93-A6F5-7E2407A66903}" type="slidenum">
              <a:rPr lang="en-US" smtClean="0"/>
              <a:t>‹#›</a:t>
            </a:fld>
            <a:endParaRPr lang="en-US"/>
          </a:p>
        </p:txBody>
      </p:sp>
    </p:spTree>
    <p:extLst>
      <p:ext uri="{BB962C8B-B14F-4D97-AF65-F5344CB8AC3E}">
        <p14:creationId xmlns:p14="http://schemas.microsoft.com/office/powerpoint/2010/main" val="540453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7015F4-904A-2E99-F3DC-CAF38CEF29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D485BD-B128-9658-F176-C1BD5A11F1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2BBAB7-90D6-52AB-C47E-27D508229C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3AFDE9-E943-4685-9521-60464D41F671}" type="datetimeFigureOut">
              <a:rPr lang="en-US" smtClean="0"/>
              <a:t>4/3/2025</a:t>
            </a:fld>
            <a:endParaRPr lang="en-US"/>
          </a:p>
        </p:txBody>
      </p:sp>
      <p:sp>
        <p:nvSpPr>
          <p:cNvPr id="5" name="Footer Placeholder 4">
            <a:extLst>
              <a:ext uri="{FF2B5EF4-FFF2-40B4-BE49-F238E27FC236}">
                <a16:creationId xmlns:a16="http://schemas.microsoft.com/office/drawing/2014/main" id="{2B19FCD7-A431-414C-1B8D-3F9CCB3981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5E52E19-9A3B-A804-6146-CCBB2DEC30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D79121-0DD0-4B93-A6F5-7E2407A66903}" type="slidenum">
              <a:rPr lang="en-US" smtClean="0"/>
              <a:t>‹#›</a:t>
            </a:fld>
            <a:endParaRPr lang="en-US"/>
          </a:p>
        </p:txBody>
      </p:sp>
    </p:spTree>
    <p:extLst>
      <p:ext uri="{BB962C8B-B14F-4D97-AF65-F5344CB8AC3E}">
        <p14:creationId xmlns:p14="http://schemas.microsoft.com/office/powerpoint/2010/main" val="5304806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4.jpg" /><Relationship Id="rId2" Type="http://schemas.openxmlformats.org/officeDocument/2006/relationships/image" Target="../media/image3.jp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5.jpg" /><Relationship Id="rId2" Type="http://schemas.openxmlformats.org/officeDocument/2006/relationships/image" Target="../media/image3.jpg" /><Relationship Id="rId1" Type="http://schemas.openxmlformats.org/officeDocument/2006/relationships/slideLayout" Target="../slideLayouts/slideLayout2.xml" /><Relationship Id="rId6" Type="http://schemas.openxmlformats.org/officeDocument/2006/relationships/image" Target="../media/image8.jpg" /><Relationship Id="rId5" Type="http://schemas.openxmlformats.org/officeDocument/2006/relationships/image" Target="../media/image7.jpg" /><Relationship Id="rId4" Type="http://schemas.openxmlformats.org/officeDocument/2006/relationships/image" Target="../media/image6.jpg" /></Relationships>
</file>

<file path=ppt/slides/_rels/slide5.xml.rels><?xml version="1.0" encoding="UTF-8" standalone="yes"?>
<Relationships xmlns="http://schemas.openxmlformats.org/package/2006/relationships"><Relationship Id="rId3" Type="http://schemas.openxmlformats.org/officeDocument/2006/relationships/image" Target="../media/image9.jpg" /><Relationship Id="rId2" Type="http://schemas.openxmlformats.org/officeDocument/2006/relationships/image" Target="../media/image3.jpg" /><Relationship Id="rId1" Type="http://schemas.openxmlformats.org/officeDocument/2006/relationships/slideLayout" Target="../slideLayouts/slideLayout2.xml" /><Relationship Id="rId5" Type="http://schemas.openxmlformats.org/officeDocument/2006/relationships/image" Target="../media/image11.jpg" /><Relationship Id="rId4" Type="http://schemas.openxmlformats.org/officeDocument/2006/relationships/image" Target="../media/image10.jpg" /></Relationships>
</file>

<file path=ppt/slides/_rels/slide6.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3902B-2416-DEF6-92BD-7D8B8D2906BE}"/>
              </a:ext>
            </a:extLst>
          </p:cNvPr>
          <p:cNvSpPr>
            <a:spLocks noGrp="1"/>
          </p:cNvSpPr>
          <p:nvPr>
            <p:ph type="ctrTitle"/>
          </p:nvPr>
        </p:nvSpPr>
        <p:spPr/>
        <p:txBody>
          <a:bodyPr/>
          <a:lstStyle/>
          <a:p>
            <a:r>
              <a:rPr lang="en-US" dirty="0"/>
              <a:t>VISUAL POINT</a:t>
            </a:r>
          </a:p>
        </p:txBody>
      </p:sp>
      <p:pic>
        <p:nvPicPr>
          <p:cNvPr id="5" name="Picture 4">
            <a:extLst>
              <a:ext uri="{FF2B5EF4-FFF2-40B4-BE49-F238E27FC236}">
                <a16:creationId xmlns:a16="http://schemas.microsoft.com/office/drawing/2014/main" id="{EA946B58-272D-E5EF-5E7E-E6A98EDD7C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1" y="-1"/>
            <a:ext cx="12344402" cy="6858001"/>
          </a:xfrm>
          <a:prstGeom prst="rect">
            <a:avLst/>
          </a:prstGeom>
        </p:spPr>
      </p:pic>
      <p:sp>
        <p:nvSpPr>
          <p:cNvPr id="3" name="Subtitle 2">
            <a:extLst>
              <a:ext uri="{FF2B5EF4-FFF2-40B4-BE49-F238E27FC236}">
                <a16:creationId xmlns:a16="http://schemas.microsoft.com/office/drawing/2014/main" id="{14AE4487-74B5-5AD4-20CA-E007FFB2413A}"/>
              </a:ext>
            </a:extLst>
          </p:cNvPr>
          <p:cNvSpPr>
            <a:spLocks noGrp="1"/>
          </p:cNvSpPr>
          <p:nvPr>
            <p:ph type="subTitle" idx="1"/>
          </p:nvPr>
        </p:nvSpPr>
        <p:spPr>
          <a:xfrm>
            <a:off x="1700981" y="4907756"/>
            <a:ext cx="9144000" cy="1655762"/>
          </a:xfrm>
        </p:spPr>
        <p:txBody>
          <a:bodyPr>
            <a:normAutofit/>
          </a:bodyPr>
          <a:lstStyle/>
          <a:p>
            <a:r>
              <a:rPr lang="en-US" sz="6600" dirty="0">
                <a:solidFill>
                  <a:schemeClr val="bg1"/>
                </a:solidFill>
                <a:latin typeface="Edwardian Script ITC" panose="030303020407070D0804" pitchFamily="66" charset="0"/>
                <a:cs typeface="Arial" panose="020B0604020202020204" pitchFamily="34" charset="0"/>
              </a:rPr>
              <a:t>See beyond the ordinary.</a:t>
            </a:r>
          </a:p>
        </p:txBody>
      </p:sp>
    </p:spTree>
    <p:extLst>
      <p:ext uri="{BB962C8B-B14F-4D97-AF65-F5344CB8AC3E}">
        <p14:creationId xmlns:p14="http://schemas.microsoft.com/office/powerpoint/2010/main" val="1305201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C4755C-3E49-421E-522B-D947DD4743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344400" cy="6858000"/>
          </a:xfrm>
          <a:prstGeom prst="rect">
            <a:avLst/>
          </a:prstGeom>
        </p:spPr>
      </p:pic>
      <p:sp>
        <p:nvSpPr>
          <p:cNvPr id="2" name="Title 1">
            <a:extLst>
              <a:ext uri="{FF2B5EF4-FFF2-40B4-BE49-F238E27FC236}">
                <a16:creationId xmlns:a16="http://schemas.microsoft.com/office/drawing/2014/main" id="{033612DF-8819-A65F-D35C-35D1A9893F8E}"/>
              </a:ext>
            </a:extLst>
          </p:cNvPr>
          <p:cNvSpPr>
            <a:spLocks noGrp="1"/>
          </p:cNvSpPr>
          <p:nvPr>
            <p:ph type="title"/>
          </p:nvPr>
        </p:nvSpPr>
        <p:spPr>
          <a:xfrm>
            <a:off x="7290006" y="1174722"/>
            <a:ext cx="1533216" cy="639072"/>
          </a:xfrm>
        </p:spPr>
        <p:txBody>
          <a:bodyPr>
            <a:normAutofit/>
          </a:bodyPr>
          <a:lstStyle/>
          <a:p>
            <a:r>
              <a:rPr lang="en-US" sz="2000" b="1" dirty="0">
                <a:solidFill>
                  <a:schemeClr val="accent4"/>
                </a:solidFill>
                <a:latin typeface="+mn-lt"/>
              </a:rPr>
              <a:t>ABOUT US</a:t>
            </a:r>
            <a:endParaRPr lang="en-LS" sz="2000" b="1" dirty="0">
              <a:solidFill>
                <a:schemeClr val="accent4"/>
              </a:solidFill>
              <a:latin typeface="+mn-lt"/>
            </a:endParaRPr>
          </a:p>
        </p:txBody>
      </p:sp>
      <p:sp>
        <p:nvSpPr>
          <p:cNvPr id="11" name="TextBox 10">
            <a:extLst>
              <a:ext uri="{FF2B5EF4-FFF2-40B4-BE49-F238E27FC236}">
                <a16:creationId xmlns:a16="http://schemas.microsoft.com/office/drawing/2014/main" id="{2BDDFD95-F0C6-3183-AEB3-6C245D455723}"/>
              </a:ext>
            </a:extLst>
          </p:cNvPr>
          <p:cNvSpPr txBox="1"/>
          <p:nvPr/>
        </p:nvSpPr>
        <p:spPr>
          <a:xfrm>
            <a:off x="7290006" y="1813794"/>
            <a:ext cx="4302841" cy="4031873"/>
          </a:xfrm>
          <a:prstGeom prst="rect">
            <a:avLst/>
          </a:prstGeom>
          <a:noFill/>
        </p:spPr>
        <p:txBody>
          <a:bodyPr wrap="square">
            <a:spAutoFit/>
          </a:bodyPr>
          <a:lstStyle/>
          <a:p>
            <a:pPr>
              <a:spcAft>
                <a:spcPts val="800"/>
              </a:spcAft>
            </a:pP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a:t>
            </a:r>
            <a:r>
              <a:rPr lang="en-US" sz="16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Visual Point” reflects our commitment to delivering powerful visuals that capture emotions, ideas and messages with clarity and impact. We believe that every story has a focal point, a moment that speaks louder than words that is why Visual Point exists to frame those moments, enhance perspectives, and make content not just seen but felt whether through photography, film or advertising, we ensure that every project we touch becomes a striking visual experience.</a:t>
            </a:r>
            <a:r>
              <a:rPr lang="en-LS" sz="16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We don’t just capture images—we tell untold stories. Through photojournalism and thought-provoking content, we document the raw, the beautiful, and the unheard, reshaping how the world sees our country.</a:t>
            </a:r>
            <a:endParaRPr lang="en-L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83241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42A7C-7BFB-9EC9-ED6E-27796CFB078A}"/>
              </a:ext>
            </a:extLst>
          </p:cNvPr>
          <p:cNvSpPr>
            <a:spLocks noGrp="1"/>
          </p:cNvSpPr>
          <p:nvPr>
            <p:ph type="title"/>
          </p:nvPr>
        </p:nvSpPr>
        <p:spPr/>
        <p:txBody>
          <a:bodyPr/>
          <a:lstStyle/>
          <a:p>
            <a:endParaRPr lang="en-LS"/>
          </a:p>
        </p:txBody>
      </p:sp>
      <p:pic>
        <p:nvPicPr>
          <p:cNvPr id="5" name="Content Placeholder 4">
            <a:extLst>
              <a:ext uri="{FF2B5EF4-FFF2-40B4-BE49-F238E27FC236}">
                <a16:creationId xmlns:a16="http://schemas.microsoft.com/office/drawing/2014/main" id="{91C2E114-240D-DFF3-C567-2731E91A99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445" y="0"/>
            <a:ext cx="12432890" cy="6907161"/>
          </a:xfrm>
        </p:spPr>
      </p:pic>
      <p:pic>
        <p:nvPicPr>
          <p:cNvPr id="7" name="Picture 6">
            <a:extLst>
              <a:ext uri="{FF2B5EF4-FFF2-40B4-BE49-F238E27FC236}">
                <a16:creationId xmlns:a16="http://schemas.microsoft.com/office/drawing/2014/main" id="{D8EBB23B-C4D2-5B8F-1CA4-D9DE8A671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175" y="365125"/>
            <a:ext cx="10917800" cy="6065444"/>
          </a:xfrm>
          <a:prstGeom prst="rect">
            <a:avLst/>
          </a:prstGeom>
        </p:spPr>
      </p:pic>
    </p:spTree>
    <p:extLst>
      <p:ext uri="{BB962C8B-B14F-4D97-AF65-F5344CB8AC3E}">
        <p14:creationId xmlns:p14="http://schemas.microsoft.com/office/powerpoint/2010/main" val="1184439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F0220-5CDB-9E31-0745-3D9313218888}"/>
              </a:ext>
            </a:extLst>
          </p:cNvPr>
          <p:cNvSpPr>
            <a:spLocks noGrp="1"/>
          </p:cNvSpPr>
          <p:nvPr>
            <p:ph type="title"/>
          </p:nvPr>
        </p:nvSpPr>
        <p:spPr/>
        <p:txBody>
          <a:bodyPr/>
          <a:lstStyle/>
          <a:p>
            <a:endParaRPr lang="en-LS"/>
          </a:p>
        </p:txBody>
      </p:sp>
      <p:pic>
        <p:nvPicPr>
          <p:cNvPr id="4" name="Content Placeholder 4">
            <a:extLst>
              <a:ext uri="{FF2B5EF4-FFF2-40B4-BE49-F238E27FC236}">
                <a16:creationId xmlns:a16="http://schemas.microsoft.com/office/drawing/2014/main" id="{55736156-8A2F-AB02-A033-F01F58F6E4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890" y="-20366"/>
            <a:ext cx="12432890" cy="6907161"/>
          </a:xfrm>
          <a:prstGeom prst="rect">
            <a:avLst/>
          </a:prstGeom>
        </p:spPr>
      </p:pic>
      <p:pic>
        <p:nvPicPr>
          <p:cNvPr id="8" name="Content Placeholder 7">
            <a:extLst>
              <a:ext uri="{FF2B5EF4-FFF2-40B4-BE49-F238E27FC236}">
                <a16:creationId xmlns:a16="http://schemas.microsoft.com/office/drawing/2014/main" id="{0205F5B6-2A92-DDB5-679D-131C8140B5D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2939"/>
          <a:stretch/>
        </p:blipFill>
        <p:spPr>
          <a:xfrm>
            <a:off x="346723" y="489966"/>
            <a:ext cx="2334711" cy="2727440"/>
          </a:xfrm>
        </p:spPr>
      </p:pic>
      <p:sp>
        <p:nvSpPr>
          <p:cNvPr id="6" name="TextBox 5">
            <a:extLst>
              <a:ext uri="{FF2B5EF4-FFF2-40B4-BE49-F238E27FC236}">
                <a16:creationId xmlns:a16="http://schemas.microsoft.com/office/drawing/2014/main" id="{44057C72-623F-74B4-8CB7-22BE8C1924D7}"/>
              </a:ext>
            </a:extLst>
          </p:cNvPr>
          <p:cNvSpPr txBox="1"/>
          <p:nvPr/>
        </p:nvSpPr>
        <p:spPr>
          <a:xfrm>
            <a:off x="164602" y="3553478"/>
            <a:ext cx="2698955" cy="2964914"/>
          </a:xfrm>
          <a:prstGeom prst="rect">
            <a:avLst/>
          </a:prstGeom>
          <a:noFill/>
        </p:spPr>
        <p:txBody>
          <a:bodyPr wrap="square">
            <a:spAutoFit/>
          </a:bodyPr>
          <a:lstStyle/>
          <a:p>
            <a:pPr>
              <a:spcAft>
                <a:spcPts val="800"/>
              </a:spcAft>
              <a:buNone/>
            </a:pPr>
            <a:r>
              <a:rPr lang="en-US" b="1" kern="100" dirty="0" err="1">
                <a:solidFill>
                  <a:schemeClr val="bg1"/>
                </a:solidFill>
                <a:effectLst/>
                <a:latin typeface="Arial" panose="020B0604020202020204" pitchFamily="34" charset="0"/>
                <a:ea typeface="Calibri" panose="020F0502020204030204" pitchFamily="34" charset="0"/>
                <a:cs typeface="Times New Roman" panose="02020603050405020304" pitchFamily="18" charset="0"/>
              </a:rPr>
              <a:t>Sajene</a:t>
            </a:r>
            <a:r>
              <a:rPr lang="en-US"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 Makara (Business management)</a:t>
            </a:r>
            <a:endParaRPr lang="en-LS"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Managing partner: Overseas overall business operations, finance and growth.</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Handles client negotiations budgeting.</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Ensures the business runs smoothly and remains profitable.</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D9703560-961C-93AC-C288-A83A0F949B52}"/>
              </a:ext>
            </a:extLst>
          </p:cNvPr>
          <p:cNvSpPr txBox="1"/>
          <p:nvPr/>
        </p:nvSpPr>
        <p:spPr>
          <a:xfrm>
            <a:off x="3269049" y="3429000"/>
            <a:ext cx="2655618" cy="2257028"/>
          </a:xfrm>
          <a:prstGeom prst="rect">
            <a:avLst/>
          </a:prstGeom>
          <a:noFill/>
        </p:spPr>
        <p:txBody>
          <a:bodyPr wrap="square">
            <a:spAutoFit/>
          </a:bodyPr>
          <a:lstStyle/>
          <a:p>
            <a:pPr>
              <a:spcAft>
                <a:spcPts val="800"/>
              </a:spcAft>
              <a:buNone/>
            </a:pPr>
            <a:r>
              <a:rPr lang="en-US" b="1" kern="100" dirty="0">
                <a:solidFill>
                  <a:schemeClr val="bg2"/>
                </a:solidFill>
                <a:latin typeface="Arial" panose="020B0604020202020204" pitchFamily="34" charset="0"/>
                <a:ea typeface="Calibri" panose="020F0502020204030204" pitchFamily="34" charset="0"/>
                <a:cs typeface="Times New Roman" panose="02020603050405020304" pitchFamily="18" charset="0"/>
              </a:rPr>
              <a:t>Thabo </a:t>
            </a:r>
            <a:r>
              <a:rPr lang="en-US" b="1" kern="100" dirty="0" err="1">
                <a:solidFill>
                  <a:schemeClr val="bg2"/>
                </a:solidFill>
                <a:effectLst/>
                <a:latin typeface="Arial" panose="020B0604020202020204" pitchFamily="34" charset="0"/>
                <a:ea typeface="Calibri" panose="020F0502020204030204" pitchFamily="34" charset="0"/>
                <a:cs typeface="Times New Roman" panose="02020603050405020304" pitchFamily="18" charset="0"/>
              </a:rPr>
              <a:t>Kikine</a:t>
            </a:r>
            <a:r>
              <a:rPr lang="en-US" b="1" kern="100" dirty="0">
                <a:solidFill>
                  <a:schemeClr val="bg2"/>
                </a:solidFill>
                <a:effectLst/>
                <a:latin typeface="Arial" panose="020B0604020202020204" pitchFamily="34" charset="0"/>
                <a:ea typeface="Calibri" panose="020F0502020204030204" pitchFamily="34" charset="0"/>
                <a:cs typeface="Times New Roman" panose="02020603050405020304" pitchFamily="18" charset="0"/>
              </a:rPr>
              <a:t>(Creative advertising )</a:t>
            </a:r>
            <a:endParaRPr lang="en-LS"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kern="100" dirty="0">
                <a:solidFill>
                  <a:schemeClr val="bg2"/>
                </a:solidFill>
                <a:effectLst/>
                <a:latin typeface="Arial" panose="020B0604020202020204" pitchFamily="34" charset="0"/>
                <a:ea typeface="Calibri" panose="020F0502020204030204" pitchFamily="34" charset="0"/>
                <a:cs typeface="Times New Roman" panose="02020603050405020304" pitchFamily="18" charset="0"/>
              </a:rPr>
              <a:t>Design logos, Brand identity materials and social media content.</a:t>
            </a:r>
            <a:endParaRPr lang="en-LS" sz="14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kern="100" dirty="0">
                <a:solidFill>
                  <a:schemeClr val="bg2"/>
                </a:solidFill>
                <a:effectLst/>
                <a:latin typeface="Arial" panose="020B0604020202020204" pitchFamily="34" charset="0"/>
                <a:ea typeface="Calibri" panose="020F0502020204030204" pitchFamily="34" charset="0"/>
                <a:cs typeface="Times New Roman" panose="02020603050405020304" pitchFamily="18" charset="0"/>
              </a:rPr>
              <a:t>Coordinates between creative, technical and business teams.</a:t>
            </a:r>
            <a:endParaRPr lang="en-LS" sz="14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en-US" sz="1400" kern="100" dirty="0">
                <a:solidFill>
                  <a:schemeClr val="bg2"/>
                </a:solidFill>
                <a:effectLst/>
                <a:latin typeface="Arial" panose="020B0604020202020204" pitchFamily="34" charset="0"/>
                <a:ea typeface="Calibri" panose="020F0502020204030204" pitchFamily="34" charset="0"/>
                <a:cs typeface="Times New Roman" panose="02020603050405020304" pitchFamily="18" charset="0"/>
              </a:rPr>
              <a:t>Editing</a:t>
            </a:r>
            <a:endParaRPr lang="en-LS" sz="14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BE1196B1-64D2-0426-262C-CA0E177A21CD}"/>
              </a:ext>
            </a:extLst>
          </p:cNvPr>
          <p:cNvSpPr txBox="1"/>
          <p:nvPr/>
        </p:nvSpPr>
        <p:spPr>
          <a:xfrm>
            <a:off x="6097116" y="3564246"/>
            <a:ext cx="2981770" cy="2964914"/>
          </a:xfrm>
          <a:prstGeom prst="rect">
            <a:avLst/>
          </a:prstGeom>
          <a:noFill/>
        </p:spPr>
        <p:txBody>
          <a:bodyPr wrap="square">
            <a:spAutoFit/>
          </a:bodyPr>
          <a:lstStyle/>
          <a:p>
            <a:pPr>
              <a:spcAft>
                <a:spcPts val="800"/>
              </a:spcAft>
              <a:buNone/>
            </a:pPr>
            <a:r>
              <a:rPr lang="en-US"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Tumelo </a:t>
            </a:r>
            <a:r>
              <a:rPr lang="en-US" b="1" kern="100" dirty="0" err="1">
                <a:solidFill>
                  <a:schemeClr val="bg1"/>
                </a:solidFill>
                <a:effectLst/>
                <a:latin typeface="Arial" panose="020B0604020202020204" pitchFamily="34" charset="0"/>
                <a:ea typeface="Calibri" panose="020F0502020204030204" pitchFamily="34" charset="0"/>
                <a:cs typeface="Times New Roman" panose="02020603050405020304" pitchFamily="18" charset="0"/>
              </a:rPr>
              <a:t>Lekeletsane</a:t>
            </a:r>
            <a:r>
              <a:rPr lang="en-US"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 ( software engineering with multimedia)</a:t>
            </a:r>
            <a:endParaRPr lang="en-LS"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Creates and manages company website, digital portfolio and tech infrastructure.</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Ensures smooth operation of editing software, cloud storage and cyber security. </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Develop tools automation and digital media management. </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63899933-D4B8-ACEE-00FF-485A5B5ABB10}"/>
              </a:ext>
            </a:extLst>
          </p:cNvPr>
          <p:cNvPicPr>
            <a:picLocks noChangeAspect="1"/>
          </p:cNvPicPr>
          <p:nvPr/>
        </p:nvPicPr>
        <p:blipFill>
          <a:blip r:embed="rId4">
            <a:extLst>
              <a:ext uri="{28A0092B-C50C-407E-A947-70E740481C1C}">
                <a14:useLocalDpi xmlns:a14="http://schemas.microsoft.com/office/drawing/2010/main" val="0"/>
              </a:ext>
            </a:extLst>
          </a:blip>
          <a:srcRect r="22473"/>
          <a:stretch/>
        </p:blipFill>
        <p:spPr>
          <a:xfrm>
            <a:off x="3412258" y="462791"/>
            <a:ext cx="2051144" cy="2738399"/>
          </a:xfrm>
          <a:prstGeom prst="rect">
            <a:avLst/>
          </a:prstGeom>
        </p:spPr>
      </p:pic>
      <p:pic>
        <p:nvPicPr>
          <p:cNvPr id="16" name="Picture 15">
            <a:extLst>
              <a:ext uri="{FF2B5EF4-FFF2-40B4-BE49-F238E27FC236}">
                <a16:creationId xmlns:a16="http://schemas.microsoft.com/office/drawing/2014/main" id="{C5330453-65B4-6F36-2EAE-C83E56EA12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2047" y="511896"/>
            <a:ext cx="1856355" cy="2781858"/>
          </a:xfrm>
          <a:prstGeom prst="rect">
            <a:avLst/>
          </a:prstGeom>
        </p:spPr>
      </p:pic>
      <p:pic>
        <p:nvPicPr>
          <p:cNvPr id="18" name="Picture 17">
            <a:extLst>
              <a:ext uri="{FF2B5EF4-FFF2-40B4-BE49-F238E27FC236}">
                <a16:creationId xmlns:a16="http://schemas.microsoft.com/office/drawing/2014/main" id="{6B061FCC-CDFE-2A98-4D77-C0E59899C2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97445" y="489966"/>
            <a:ext cx="1856355" cy="2783663"/>
          </a:xfrm>
          <a:prstGeom prst="rect">
            <a:avLst/>
          </a:prstGeom>
        </p:spPr>
      </p:pic>
      <p:sp>
        <p:nvSpPr>
          <p:cNvPr id="20" name="TextBox 19">
            <a:extLst>
              <a:ext uri="{FF2B5EF4-FFF2-40B4-BE49-F238E27FC236}">
                <a16:creationId xmlns:a16="http://schemas.microsoft.com/office/drawing/2014/main" id="{8747E7E8-DF7B-8C69-3A29-710D014931CB}"/>
              </a:ext>
            </a:extLst>
          </p:cNvPr>
          <p:cNvSpPr txBox="1"/>
          <p:nvPr/>
        </p:nvSpPr>
        <p:spPr>
          <a:xfrm>
            <a:off x="9210230" y="3584372"/>
            <a:ext cx="2981770" cy="3088025"/>
          </a:xfrm>
          <a:prstGeom prst="rect">
            <a:avLst/>
          </a:prstGeom>
          <a:noFill/>
        </p:spPr>
        <p:txBody>
          <a:bodyPr wrap="square">
            <a:spAutoFit/>
          </a:bodyPr>
          <a:lstStyle/>
          <a:p>
            <a:pPr>
              <a:spcAft>
                <a:spcPts val="800"/>
              </a:spcAft>
              <a:buNone/>
            </a:pPr>
            <a:r>
              <a:rPr lang="en-US" sz="1600" b="1" kern="100" dirty="0" err="1">
                <a:solidFill>
                  <a:schemeClr val="bg2"/>
                </a:solidFill>
                <a:effectLst/>
                <a:latin typeface="Arial" panose="020B0604020202020204" pitchFamily="34" charset="0"/>
                <a:ea typeface="Calibri" panose="020F0502020204030204" pitchFamily="34" charset="0"/>
                <a:cs typeface="Times New Roman" panose="02020603050405020304" pitchFamily="18" charset="0"/>
              </a:rPr>
              <a:t>Lehloholono</a:t>
            </a:r>
            <a:r>
              <a:rPr lang="en-US" sz="1600" b="1" kern="100" dirty="0">
                <a:solidFill>
                  <a:schemeClr val="bg2"/>
                </a:solidFill>
                <a:effectLst/>
                <a:latin typeface="Arial" panose="020B0604020202020204" pitchFamily="34" charset="0"/>
                <a:ea typeface="Calibri" panose="020F0502020204030204" pitchFamily="34" charset="0"/>
                <a:cs typeface="Times New Roman" panose="02020603050405020304" pitchFamily="18" charset="0"/>
              </a:rPr>
              <a:t> </a:t>
            </a:r>
            <a:r>
              <a:rPr lang="en-US" sz="1600" b="1" kern="100" dirty="0" err="1">
                <a:solidFill>
                  <a:schemeClr val="bg2"/>
                </a:solidFill>
                <a:effectLst/>
                <a:latin typeface="Arial" panose="020B0604020202020204" pitchFamily="34" charset="0"/>
                <a:ea typeface="Calibri" panose="020F0502020204030204" pitchFamily="34" charset="0"/>
                <a:cs typeface="Times New Roman" panose="02020603050405020304" pitchFamily="18" charset="0"/>
              </a:rPr>
              <a:t>Raithule</a:t>
            </a:r>
            <a:r>
              <a:rPr lang="en-US" sz="1600" b="1" kern="100" dirty="0">
                <a:solidFill>
                  <a:schemeClr val="bg2"/>
                </a:solidFill>
                <a:effectLst/>
                <a:latin typeface="Arial" panose="020B0604020202020204" pitchFamily="34" charset="0"/>
                <a:ea typeface="Calibri" panose="020F0502020204030204" pitchFamily="34" charset="0"/>
                <a:cs typeface="Times New Roman" panose="02020603050405020304" pitchFamily="18" charset="0"/>
              </a:rPr>
              <a:t>(Creative Advertising)</a:t>
            </a:r>
            <a:endParaRPr lang="en-LS" sz="1600" b="1"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kern="100" dirty="0">
                <a:solidFill>
                  <a:schemeClr val="bg2"/>
                </a:solidFill>
                <a:effectLst/>
                <a:latin typeface="Arial" panose="020B0604020202020204" pitchFamily="34" charset="0"/>
                <a:ea typeface="Calibri" panose="020F0502020204030204" pitchFamily="34" charset="0"/>
                <a:cs typeface="Times New Roman" panose="02020603050405020304" pitchFamily="18" charset="0"/>
              </a:rPr>
              <a:t>Develops marketing campaigns and brand strategies for the company and clients</a:t>
            </a:r>
            <a:endParaRPr lang="en-LS" sz="14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kern="100" dirty="0">
                <a:solidFill>
                  <a:schemeClr val="bg2"/>
                </a:solidFill>
                <a:effectLst/>
                <a:latin typeface="Arial" panose="020B0604020202020204" pitchFamily="34" charset="0"/>
                <a:ea typeface="Calibri" panose="020F0502020204030204" pitchFamily="34" charset="0"/>
                <a:cs typeface="Times New Roman" panose="02020603050405020304" pitchFamily="18" charset="0"/>
              </a:rPr>
              <a:t>Creates advertising concepts, storytelling ideas and commercial content.</a:t>
            </a:r>
            <a:endParaRPr lang="en-LS" sz="14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en-US" sz="1400" kern="100" dirty="0">
                <a:solidFill>
                  <a:schemeClr val="bg2"/>
                </a:solidFill>
                <a:effectLst/>
                <a:latin typeface="Arial" panose="020B0604020202020204" pitchFamily="34" charset="0"/>
                <a:ea typeface="Calibri" panose="020F0502020204030204" pitchFamily="34" charset="0"/>
                <a:cs typeface="Times New Roman" panose="02020603050405020304" pitchFamily="18" charset="0"/>
              </a:rPr>
              <a:t>Works with PR and business team to grow the brand ‘s presence. </a:t>
            </a:r>
            <a:endParaRPr lang="en-LS" sz="14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03166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CB542AB-2E67-AB71-5911-4660918F4F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 y="-471"/>
            <a:ext cx="12344400" cy="7161259"/>
          </a:xfrm>
        </p:spPr>
      </p:pic>
      <p:pic>
        <p:nvPicPr>
          <p:cNvPr id="9" name="Picture 8">
            <a:extLst>
              <a:ext uri="{FF2B5EF4-FFF2-40B4-BE49-F238E27FC236}">
                <a16:creationId xmlns:a16="http://schemas.microsoft.com/office/drawing/2014/main" id="{82B71C0C-3189-57E1-33E6-BABAA0D01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40960" y="994495"/>
            <a:ext cx="2513231" cy="3757306"/>
          </a:xfrm>
          <a:prstGeom prst="rect">
            <a:avLst/>
          </a:prstGeom>
        </p:spPr>
      </p:pic>
      <p:pic>
        <p:nvPicPr>
          <p:cNvPr id="11" name="Picture 10">
            <a:extLst>
              <a:ext uri="{FF2B5EF4-FFF2-40B4-BE49-F238E27FC236}">
                <a16:creationId xmlns:a16="http://schemas.microsoft.com/office/drawing/2014/main" id="{F53B7338-847A-B604-C655-2AA1620FDF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2414" y="994495"/>
            <a:ext cx="2867172" cy="3757306"/>
          </a:xfrm>
          <a:prstGeom prst="rect">
            <a:avLst/>
          </a:prstGeom>
        </p:spPr>
      </p:pic>
      <p:sp>
        <p:nvSpPr>
          <p:cNvPr id="12" name="Title 1">
            <a:extLst>
              <a:ext uri="{FF2B5EF4-FFF2-40B4-BE49-F238E27FC236}">
                <a16:creationId xmlns:a16="http://schemas.microsoft.com/office/drawing/2014/main" id="{83E249C2-A8F7-B446-4A34-63D0C8EA966A}"/>
              </a:ext>
            </a:extLst>
          </p:cNvPr>
          <p:cNvSpPr txBox="1">
            <a:spLocks/>
          </p:cNvSpPr>
          <p:nvPr/>
        </p:nvSpPr>
        <p:spPr>
          <a:xfrm>
            <a:off x="1343805" y="5830094"/>
            <a:ext cx="2806013" cy="7852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solidFill>
                  <a:schemeClr val="accent2"/>
                </a:solidFill>
              </a:rPr>
              <a:t> </a:t>
            </a:r>
            <a:endParaRPr lang="en-LS" dirty="0">
              <a:solidFill>
                <a:schemeClr val="accent2"/>
              </a:solidFill>
            </a:endParaRPr>
          </a:p>
        </p:txBody>
      </p:sp>
      <p:sp>
        <p:nvSpPr>
          <p:cNvPr id="17" name="TextBox 16">
            <a:extLst>
              <a:ext uri="{FF2B5EF4-FFF2-40B4-BE49-F238E27FC236}">
                <a16:creationId xmlns:a16="http://schemas.microsoft.com/office/drawing/2014/main" id="{4D58C5A0-E6FC-4A96-AAE0-17796A46B0D1}"/>
              </a:ext>
            </a:extLst>
          </p:cNvPr>
          <p:cNvSpPr txBox="1"/>
          <p:nvPr/>
        </p:nvSpPr>
        <p:spPr>
          <a:xfrm>
            <a:off x="8447836" y="5096979"/>
            <a:ext cx="3197073" cy="1395254"/>
          </a:xfrm>
          <a:prstGeom prst="rect">
            <a:avLst/>
          </a:prstGeom>
          <a:noFill/>
        </p:spPr>
        <p:txBody>
          <a:bodyPr wrap="square">
            <a:spAutoFit/>
          </a:bodyPr>
          <a:lstStyle/>
          <a:p>
            <a:pPr>
              <a:spcAft>
                <a:spcPts val="800"/>
              </a:spcAft>
              <a:buNone/>
            </a:pPr>
            <a:r>
              <a:rPr lang="en-US"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Tsebo </a:t>
            </a:r>
            <a:r>
              <a:rPr lang="en-US" b="1" kern="100" dirty="0" err="1">
                <a:solidFill>
                  <a:schemeClr val="bg1"/>
                </a:solidFill>
                <a:effectLst/>
                <a:latin typeface="Arial" panose="020B0604020202020204" pitchFamily="34" charset="0"/>
                <a:ea typeface="Calibri" panose="020F0502020204030204" pitchFamily="34" charset="0"/>
                <a:cs typeface="Times New Roman" panose="02020603050405020304" pitchFamily="18" charset="0"/>
              </a:rPr>
              <a:t>Makakole</a:t>
            </a:r>
            <a:r>
              <a:rPr lang="en-US"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 (Graphic designer)</a:t>
            </a:r>
            <a:endParaRPr lang="en-LS"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Photography and shooting</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Editing and post-production</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Develop and execute</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1DAFE058-C4A5-A92F-D11B-C00E387C155F}"/>
              </a:ext>
            </a:extLst>
          </p:cNvPr>
          <p:cNvSpPr txBox="1"/>
          <p:nvPr/>
        </p:nvSpPr>
        <p:spPr>
          <a:xfrm>
            <a:off x="4461250" y="5096979"/>
            <a:ext cx="3868603" cy="1395254"/>
          </a:xfrm>
          <a:prstGeom prst="rect">
            <a:avLst/>
          </a:prstGeom>
          <a:noFill/>
        </p:spPr>
        <p:txBody>
          <a:bodyPr wrap="square">
            <a:spAutoFit/>
          </a:bodyPr>
          <a:lstStyle/>
          <a:p>
            <a:pPr>
              <a:spcAft>
                <a:spcPts val="800"/>
              </a:spcAft>
              <a:buNone/>
            </a:pPr>
            <a:r>
              <a:rPr lang="en-US" b="1" kern="100" dirty="0">
                <a:solidFill>
                  <a:schemeClr val="bg1"/>
                </a:solidFill>
                <a:effectLst/>
                <a:latin typeface="Arial" panose="020B0604020202020204" pitchFamily="34" charset="0"/>
                <a:ea typeface="Calibri" panose="020F0502020204030204" pitchFamily="34" charset="0"/>
                <a:cs typeface="Arial" panose="020B0604020202020204" pitchFamily="34" charset="0"/>
              </a:rPr>
              <a:t>Monehela </a:t>
            </a:r>
            <a:r>
              <a:rPr lang="en-US" b="1" kern="100" dirty="0" err="1">
                <a:solidFill>
                  <a:schemeClr val="bg1"/>
                </a:solidFill>
                <a:effectLst/>
                <a:latin typeface="Arial" panose="020B0604020202020204" pitchFamily="34" charset="0"/>
                <a:ea typeface="Calibri" panose="020F0502020204030204" pitchFamily="34" charset="0"/>
                <a:cs typeface="Arial" panose="020B0604020202020204" pitchFamily="34" charset="0"/>
              </a:rPr>
              <a:t>Nqhae</a:t>
            </a:r>
            <a:r>
              <a:rPr lang="en-US" b="1" kern="100" dirty="0">
                <a:solidFill>
                  <a:schemeClr val="bg1"/>
                </a:solidFill>
                <a:effectLst/>
                <a:latin typeface="Arial" panose="020B0604020202020204" pitchFamily="34" charset="0"/>
                <a:ea typeface="Calibri" panose="020F0502020204030204" pitchFamily="34" charset="0"/>
                <a:cs typeface="Arial" panose="020B0604020202020204" pitchFamily="34" charset="0"/>
              </a:rPr>
              <a:t> (film Production)</a:t>
            </a:r>
            <a:endParaRPr lang="en-LS" kern="1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marL="342900" lvl="0" indent="-342900">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Arial" panose="020B0604020202020204" pitchFamily="34" charset="0"/>
              </a:rPr>
              <a:t>Overseas all video and film productions</a:t>
            </a:r>
            <a:endParaRPr lang="en-LS" sz="1400" kern="1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marL="342900" lvl="0" indent="-342900">
              <a:spcAft>
                <a:spcPts val="800"/>
              </a:spcAft>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Arial" panose="020B0604020202020204" pitchFamily="34" charset="0"/>
              </a:rPr>
              <a:t>Directs video shoots, cinematography and post-productions </a:t>
            </a:r>
            <a:r>
              <a:rPr lang="en-US" sz="1400" dirty="0">
                <a:solidFill>
                  <a:schemeClr val="bg1"/>
                </a:solidFill>
                <a:effectLst/>
                <a:latin typeface="Arial" panose="020B0604020202020204" pitchFamily="34" charset="0"/>
                <a:ea typeface="Calibri" panose="020F0502020204030204" pitchFamily="34" charset="0"/>
                <a:cs typeface="Arial" panose="020B0604020202020204" pitchFamily="34" charset="0"/>
              </a:rPr>
              <a:t>Video editing.</a:t>
            </a:r>
            <a:endParaRPr lang="en-LS" sz="1400" kern="1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F8F25EC7-CA11-50FE-7EFE-FFC648DABC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9521" y="928904"/>
            <a:ext cx="2867172" cy="3822896"/>
          </a:xfrm>
          <a:prstGeom prst="rect">
            <a:avLst/>
          </a:prstGeom>
        </p:spPr>
      </p:pic>
      <p:sp>
        <p:nvSpPr>
          <p:cNvPr id="10" name="TextBox 9">
            <a:extLst>
              <a:ext uri="{FF2B5EF4-FFF2-40B4-BE49-F238E27FC236}">
                <a16:creationId xmlns:a16="http://schemas.microsoft.com/office/drawing/2014/main" id="{3D0C7D8D-A5A8-2CD3-3AF2-022F2F75EFC0}"/>
              </a:ext>
            </a:extLst>
          </p:cNvPr>
          <p:cNvSpPr txBox="1"/>
          <p:nvPr/>
        </p:nvSpPr>
        <p:spPr>
          <a:xfrm>
            <a:off x="304333" y="5074001"/>
            <a:ext cx="4549810" cy="1764586"/>
          </a:xfrm>
          <a:prstGeom prst="rect">
            <a:avLst/>
          </a:prstGeom>
          <a:noFill/>
        </p:spPr>
        <p:txBody>
          <a:bodyPr wrap="square">
            <a:spAutoFit/>
          </a:bodyPr>
          <a:lstStyle/>
          <a:p>
            <a:pPr>
              <a:spcAft>
                <a:spcPts val="800"/>
              </a:spcAft>
              <a:buNone/>
            </a:pPr>
            <a:r>
              <a:rPr lang="en-US" b="1" kern="100" dirty="0" err="1">
                <a:solidFill>
                  <a:schemeClr val="bg1"/>
                </a:solidFill>
                <a:effectLst/>
                <a:latin typeface="Arial" panose="020B0604020202020204" pitchFamily="34" charset="0"/>
                <a:ea typeface="Calibri" panose="020F0502020204030204" pitchFamily="34" charset="0"/>
                <a:cs typeface="Times New Roman" panose="02020603050405020304" pitchFamily="18" charset="0"/>
              </a:rPr>
              <a:t>Tsitso</a:t>
            </a:r>
            <a:r>
              <a:rPr lang="en-US"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 </a:t>
            </a:r>
            <a:r>
              <a:rPr lang="en-US" b="1" kern="100" dirty="0" err="1">
                <a:solidFill>
                  <a:schemeClr val="bg1"/>
                </a:solidFill>
                <a:effectLst/>
                <a:latin typeface="Arial" panose="020B0604020202020204" pitchFamily="34" charset="0"/>
                <a:ea typeface="Calibri" panose="020F0502020204030204" pitchFamily="34" charset="0"/>
                <a:cs typeface="Times New Roman" panose="02020603050405020304" pitchFamily="18" charset="0"/>
              </a:rPr>
              <a:t>Paneng</a:t>
            </a:r>
            <a:r>
              <a:rPr lang="en-US"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 (Public relations)</a:t>
            </a:r>
            <a:endParaRPr lang="en-LS"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Manages the company’s public image, social media, and media relations</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Writes press releases, blog content and promotional materials.</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en-US"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Engages with clients, influencers and target publics.</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87497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A850C852-73EE-6E1C-B818-0F5F9ADF7E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0"/>
            <a:ext cx="12344400" cy="6858000"/>
          </a:xfrm>
          <a:prstGeom prst="rect">
            <a:avLst/>
          </a:prstGeom>
        </p:spPr>
      </p:pic>
      <p:sp>
        <p:nvSpPr>
          <p:cNvPr id="2" name="Title 1">
            <a:extLst>
              <a:ext uri="{FF2B5EF4-FFF2-40B4-BE49-F238E27FC236}">
                <a16:creationId xmlns:a16="http://schemas.microsoft.com/office/drawing/2014/main" id="{F43BD42F-6CF8-D841-5C30-0F39F0CDEDB2}"/>
              </a:ext>
            </a:extLst>
          </p:cNvPr>
          <p:cNvSpPr>
            <a:spLocks noGrp="1"/>
          </p:cNvSpPr>
          <p:nvPr>
            <p:ph type="title"/>
          </p:nvPr>
        </p:nvSpPr>
        <p:spPr>
          <a:xfrm>
            <a:off x="388374" y="391037"/>
            <a:ext cx="6609735" cy="779463"/>
          </a:xfrm>
        </p:spPr>
        <p:txBody>
          <a:bodyPr>
            <a:normAutofit/>
          </a:bodyPr>
          <a:lstStyle/>
          <a:p>
            <a:r>
              <a:rPr lang="en-US" sz="1800" b="1" kern="100" dirty="0">
                <a:solidFill>
                  <a:schemeClr val="accent4"/>
                </a:solidFill>
                <a:effectLst/>
                <a:latin typeface="Arial" panose="020B0604020202020204" pitchFamily="34" charset="0"/>
                <a:ea typeface="Calibri" panose="020F0502020204030204" pitchFamily="34" charset="0"/>
                <a:cs typeface="Times New Roman" panose="02020603050405020304" pitchFamily="18" charset="0"/>
              </a:rPr>
              <a:t>Our Services</a:t>
            </a:r>
            <a:r>
              <a:rPr lang="en-US" sz="1800" kern="100" dirty="0">
                <a:solidFill>
                  <a:schemeClr val="accent4"/>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GB" sz="1800" b="1" kern="100" dirty="0">
                <a:solidFill>
                  <a:schemeClr val="accent4"/>
                </a:solidFill>
                <a:effectLst/>
                <a:latin typeface="Arial" panose="020B0604020202020204" pitchFamily="34" charset="0"/>
                <a:ea typeface="Calibri" panose="020F0502020204030204" pitchFamily="34" charset="0"/>
                <a:cs typeface="Times New Roman" panose="02020603050405020304" pitchFamily="18" charset="0"/>
              </a:rPr>
              <a:t>Relive Every Moment in Cinematic Detail</a:t>
            </a:r>
            <a:endParaRPr lang="en-LS" dirty="0">
              <a:solidFill>
                <a:schemeClr val="accent4"/>
              </a:solidFill>
            </a:endParaRPr>
          </a:p>
        </p:txBody>
      </p:sp>
      <p:sp>
        <p:nvSpPr>
          <p:cNvPr id="6" name="TextBox 5">
            <a:extLst>
              <a:ext uri="{FF2B5EF4-FFF2-40B4-BE49-F238E27FC236}">
                <a16:creationId xmlns:a16="http://schemas.microsoft.com/office/drawing/2014/main" id="{A7AE9D27-3E10-BD3C-8572-6BCF63D073C4}"/>
              </a:ext>
            </a:extLst>
          </p:cNvPr>
          <p:cNvSpPr txBox="1"/>
          <p:nvPr/>
        </p:nvSpPr>
        <p:spPr>
          <a:xfrm>
            <a:off x="388374" y="2068388"/>
            <a:ext cx="11063749" cy="4298613"/>
          </a:xfrm>
          <a:prstGeom prst="rect">
            <a:avLst/>
          </a:prstGeom>
          <a:noFill/>
        </p:spPr>
        <p:txBody>
          <a:bodyPr wrap="square">
            <a:spAutoFit/>
          </a:bodyPr>
          <a:lstStyle/>
          <a:p>
            <a:pPr algn="just">
              <a:spcAft>
                <a:spcPts val="800"/>
              </a:spcAft>
              <a:buNone/>
            </a:pPr>
            <a:r>
              <a:rPr lang="en-GB" b="1" kern="100" dirty="0">
                <a:solidFill>
                  <a:schemeClr val="bg1"/>
                </a:solidFill>
                <a:effectLst/>
                <a:latin typeface="Segoe UI Emoji" panose="020B0502040204020203" pitchFamily="34" charset="0"/>
                <a:ea typeface="Calibri" panose="020F0502020204030204" pitchFamily="34" charset="0"/>
                <a:cs typeface="Segoe UI Emoji" panose="020B0502040204020203" pitchFamily="34" charset="0"/>
              </a:rPr>
              <a:t>🎬</a:t>
            </a:r>
            <a:r>
              <a:rPr lang="en-GB"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 Brand &amp; Commercial Content – Elevate Your Brand with Visual Storytelling</a:t>
            </a:r>
            <a:endParaRPr lang="en-LS"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800"/>
              </a:spcAft>
              <a:buNone/>
            </a:pPr>
            <a:r>
              <a:rPr lang="en-GB"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In today’s competitive market, strong visuals equal strong brands. Our team specializes in crafting compelling marketing campaigns, product shoots, and branded content that make your business impossible to ignore.</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800"/>
              </a:spcAft>
              <a:buNone/>
            </a:pPr>
            <a:r>
              <a:rPr lang="en-GB" b="1" kern="100" dirty="0">
                <a:solidFill>
                  <a:schemeClr val="bg1"/>
                </a:solidFill>
                <a:effectLst/>
                <a:latin typeface="Segoe UI Emoji" panose="020B0502040204020203" pitchFamily="34" charset="0"/>
                <a:ea typeface="Calibri" panose="020F0502020204030204" pitchFamily="34" charset="0"/>
                <a:cs typeface="Segoe UI Emoji" panose="020B0502040204020203" pitchFamily="34" charset="0"/>
              </a:rPr>
              <a:t>📱</a:t>
            </a:r>
            <a:r>
              <a:rPr lang="en-GB"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 Social Media Content – Stay Ahead with High-Impact Digital Visuals </a:t>
            </a:r>
            <a:r>
              <a:rPr lang="en-US"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Social Media Marketer and Advertising Consultant </a:t>
            </a:r>
            <a:endParaRPr lang="en-LS"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800"/>
              </a:spcAft>
              <a:buNone/>
            </a:pPr>
            <a:r>
              <a:rPr lang="en-GB"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Engagement is everything! We create scroll-stopping content tailored for brands, influencers, and businesses looking to make waves on Instagram, Facebook, TikTok, and beyond.</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800"/>
              </a:spcAft>
              <a:buNone/>
            </a:pPr>
            <a:r>
              <a:rPr lang="en-GB" b="1" kern="100" dirty="0">
                <a:solidFill>
                  <a:schemeClr val="bg1"/>
                </a:solidFill>
                <a:effectLst/>
                <a:latin typeface="Segoe UI Emoji" panose="020B0502040204020203" pitchFamily="34" charset="0"/>
                <a:ea typeface="Calibri" panose="020F0502020204030204" pitchFamily="34" charset="0"/>
                <a:cs typeface="Segoe UI Emoji" panose="020B0502040204020203" pitchFamily="34" charset="0"/>
              </a:rPr>
              <a:t>🎞️</a:t>
            </a:r>
            <a:r>
              <a:rPr lang="en-GB"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 Professional Editing &amp; Post-Production – Your Visuals, Perfected </a:t>
            </a:r>
            <a:r>
              <a:rPr lang="en-US"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Post Production consultancy </a:t>
            </a:r>
            <a:endParaRPr lang="en-LS"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800"/>
              </a:spcAft>
              <a:buNone/>
            </a:pPr>
            <a:r>
              <a:rPr lang="en-GB"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From photo retouching to cinematic video editing, we ensure every frame is polished to perfection. Sharp details, vibrant colours, and seamless storytelling—because your content deserves the best.</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800"/>
              </a:spcAft>
              <a:buNone/>
            </a:pPr>
            <a:r>
              <a:rPr lang="en-GB" b="1" kern="100" dirty="0">
                <a:solidFill>
                  <a:schemeClr val="bg1"/>
                </a:solidFill>
                <a:effectLst/>
                <a:latin typeface="Segoe UI Emoji" panose="020B0502040204020203" pitchFamily="34" charset="0"/>
                <a:ea typeface="Calibri" panose="020F0502020204030204" pitchFamily="34" charset="0"/>
                <a:cs typeface="Segoe UI Emoji" panose="020B0502040204020203" pitchFamily="34" charset="0"/>
              </a:rPr>
              <a:t>🚁</a:t>
            </a:r>
            <a:r>
              <a:rPr lang="en-GB"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 Drone &amp; Aerial Cinematography – See the Bigger Picture</a:t>
            </a:r>
            <a:endParaRPr lang="en-LS"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800"/>
              </a:spcAft>
              <a:buNone/>
            </a:pPr>
            <a:r>
              <a:rPr lang="en-GB"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Take your visuals to the next level with stunning aerial shots. Whether for real estate, events, or cinematic productions, our drone footage adds a breathtaking perspective.</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800"/>
              </a:spcAft>
            </a:pPr>
            <a:r>
              <a:rPr lang="en-GB" b="1" kern="100" dirty="0">
                <a:solidFill>
                  <a:schemeClr val="bg1"/>
                </a:solidFill>
                <a:effectLst/>
                <a:latin typeface="Segoe UI Emoji" panose="020B0502040204020203" pitchFamily="34" charset="0"/>
                <a:ea typeface="Calibri" panose="020F0502020204030204" pitchFamily="34" charset="0"/>
                <a:cs typeface="Segoe UI Emoji" panose="020B0502040204020203" pitchFamily="34" charset="0"/>
              </a:rPr>
              <a:t>📡</a:t>
            </a:r>
            <a:r>
              <a:rPr lang="en-GB" b="1"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 Live Streaming &amp; 360-Degree Video – Engage Audiences in Real Time</a:t>
            </a:r>
            <a:endParaRPr lang="en-LS"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TextBox 22">
            <a:extLst>
              <a:ext uri="{FF2B5EF4-FFF2-40B4-BE49-F238E27FC236}">
                <a16:creationId xmlns:a16="http://schemas.microsoft.com/office/drawing/2014/main" id="{0C0BE4B4-4A2B-6F89-3223-0BFE4720D4B1}"/>
              </a:ext>
            </a:extLst>
          </p:cNvPr>
          <p:cNvSpPr txBox="1"/>
          <p:nvPr/>
        </p:nvSpPr>
        <p:spPr>
          <a:xfrm>
            <a:off x="388374" y="1054169"/>
            <a:ext cx="11063749" cy="523220"/>
          </a:xfrm>
          <a:prstGeom prst="rect">
            <a:avLst/>
          </a:prstGeom>
          <a:noFill/>
        </p:spPr>
        <p:txBody>
          <a:bodyPr wrap="square">
            <a:spAutoFit/>
          </a:bodyPr>
          <a:lstStyle/>
          <a:p>
            <a:pPr algn="just">
              <a:spcAft>
                <a:spcPts val="800"/>
              </a:spcAft>
              <a:buNone/>
            </a:pPr>
            <a:r>
              <a:rPr lang="en-GB" sz="1400" kern="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Your special moments deserve more than snapshots—they deserve a masterpiece. From weddings and corporate events to private celebrations, we capture the essence of every occasion with breathtaking photography and high-quality video production.</a:t>
            </a:r>
            <a:endParaRPr lang="en-L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49699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489</TotalTime>
  <Words>584</Words>
  <Application>Microsoft Office PowerPoint</Application>
  <PresentationFormat>Widescreen</PresentationFormat>
  <Paragraphs>44</Paragraphs>
  <Slides>6</Slides>
  <Notes>1</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VISUAL POINT</vt:lpstr>
      <vt:lpstr>ABOUT US</vt:lpstr>
      <vt:lpstr>PowerPoint Presentation</vt:lpstr>
      <vt:lpstr>PowerPoint Presentation</vt:lpstr>
      <vt:lpstr>PowerPoint Presentation</vt:lpstr>
      <vt:lpstr>Our Services Relive Every Moment in Cinematic Detail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 POINT</dc:title>
  <dc:creator>Thabo Kikine</dc:creator>
  <cp:lastModifiedBy>monehelanqhae01@gmail.com</cp:lastModifiedBy>
  <cp:revision>8</cp:revision>
  <dcterms:created xsi:type="dcterms:W3CDTF">2025-03-13T23:38:10Z</dcterms:created>
  <dcterms:modified xsi:type="dcterms:W3CDTF">2025-04-03T09:33:44Z</dcterms:modified>
</cp:coreProperties>
</file>